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Montserrat"/>
      <p:regular r:id="rId13"/>
    </p:embeddedFont>
    <p:embeddedFont>
      <p:font typeface="Montserrat"/>
      <p:regular r:id="rId14"/>
    </p:embeddedFont>
    <p:embeddedFont>
      <p:font typeface="Montserrat"/>
      <p:regular r:id="rId15"/>
    </p:embeddedFont>
    <p:embeddedFont>
      <p:font typeface="Montserrat"/>
      <p:regular r:id="rId16"/>
    </p:embeddedFont>
    <p:embeddedFont>
      <p:font typeface="Source Sans 3"/>
      <p:regular r:id="rId17"/>
    </p:embeddedFont>
    <p:embeddedFont>
      <p:font typeface="Source Sans 3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mavenanalytics.io/data-playground/global-electronics-retailer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3471"/>
            <a:ext cx="683883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2020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Global Electronics Retailer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71205"/>
            <a:ext cx="13042821" cy="171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00"/>
              </a:lnSpc>
              <a:buNone/>
            </a:pPr>
            <a:r>
              <a:rPr lang="en-US" sz="5350" b="1" dirty="0">
                <a:solidFill>
                  <a:srgbClr val="02020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Sales and Revenue Trends 2016–2020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793790" y="498050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analysis of sales performance, store performance, and customer trends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5570815"/>
            <a:ext cx="13042821" cy="14883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585847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Yisel Alvarado Ayala  ·  Daniel Cedeno  ·  Jose Alfaro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374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2020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Introduction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2301478"/>
            <a:ext cx="6565106" cy="4544378"/>
          </a:xfrm>
          <a:prstGeom prst="roundRect">
            <a:avLst>
              <a:gd name="adj" fmla="val 201"/>
            </a:avLst>
          </a:prstGeom>
          <a:solidFill>
            <a:srgbClr val="E04F00"/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2499836"/>
            <a:ext cx="26158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2020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About the Company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3008352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Global Electronics Retailer is a fictional global company specializing in electronic devices, home appliances, and technology solutions. It operates both online and through physical stores worldwide.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249983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2020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Analysis Goals</a:t>
            </a:r>
            <a:endParaRPr lang="en-US" sz="1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9288" y="3039308"/>
            <a:ext cx="297656" cy="297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09717" y="303323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Sales Performance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209717" y="3541752"/>
            <a:ext cx="563451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and understand sales performance across product categories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9288" y="4579739"/>
            <a:ext cx="297656" cy="2976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09717" y="45736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Store Performance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8209717" y="5082183"/>
            <a:ext cx="563451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Evaluate store performance across the global retail network</a:t>
            </a:r>
            <a:endParaRPr lang="en-US" sz="1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9288" y="5802630"/>
            <a:ext cx="297656" cy="2976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09717" y="57965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Trends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8209717" y="6305074"/>
            <a:ext cx="563451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customer and sales trends over time from 2016 to 2020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422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2020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Process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1113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structured, cloud-based workflow was used to collect, store, query, and visualize the data.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976682"/>
            <a:ext cx="198358" cy="1983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3790" y="3266242"/>
            <a:ext cx="4215289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341114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Download Dataset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93790" y="3840361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Downloaded the Global Electronics Retailer dataset from Maven Analytics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437" y="2976682"/>
            <a:ext cx="198358" cy="19835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207437" y="3266242"/>
            <a:ext cx="4215408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6"/>
          <p:cNvSpPr/>
          <p:nvPr/>
        </p:nvSpPr>
        <p:spPr>
          <a:xfrm>
            <a:off x="5207437" y="341114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Azure SQL Setup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207437" y="3840361"/>
            <a:ext cx="42154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the Azure SQL Database using the Azure for Students free tier and built all tables using the Query Editor</a:t>
            </a:r>
            <a:endParaRPr lang="en-US" sz="1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1203" y="2976682"/>
            <a:ext cx="198358" cy="19835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621203" y="3266242"/>
            <a:ext cx="4215289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9"/>
          <p:cNvSpPr/>
          <p:nvPr/>
        </p:nvSpPr>
        <p:spPr>
          <a:xfrm>
            <a:off x="9621203" y="341114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Load Data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9621203" y="3840361"/>
            <a:ext cx="4215289" cy="96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Loaded CSV data using a custom Python script (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load_data.py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with the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pyodbc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library, then exported the database as 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.bacpac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backup</a:t>
            </a:r>
            <a:endParaRPr lang="en-US" sz="15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180171"/>
            <a:ext cx="198358" cy="19835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93790" y="5469731"/>
            <a:ext cx="6422112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2"/>
          <p:cNvSpPr/>
          <p:nvPr/>
        </p:nvSpPr>
        <p:spPr>
          <a:xfrm>
            <a:off x="793790" y="56146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Connect &amp; Query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793790" y="6043851"/>
            <a:ext cx="6422112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Connected Azure SQL to VS Code using the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mssql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DBCode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extensions, then wrote 12 T-SQL queries across three analysis goals</a:t>
            </a:r>
            <a:endParaRPr lang="en-US" sz="15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14260" y="5180171"/>
            <a:ext cx="198358" cy="19835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414260" y="5469731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2" name="Text 15"/>
          <p:cNvSpPr/>
          <p:nvPr/>
        </p:nvSpPr>
        <p:spPr>
          <a:xfrm>
            <a:off x="7414260" y="5614630"/>
            <a:ext cx="295679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Visualize &amp; Collaborate</a:t>
            </a:r>
            <a:endParaRPr lang="en-US" sz="1950" dirty="0"/>
          </a:p>
        </p:txBody>
      </p:sp>
      <p:sp>
        <p:nvSpPr>
          <p:cNvPr id="23" name="Text 16"/>
          <p:cNvSpPr/>
          <p:nvPr/>
        </p:nvSpPr>
        <p:spPr>
          <a:xfrm>
            <a:off x="7414260" y="6043851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visualizations using DBCode's charting feature and collaborated via GitHub with a shared repository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0981"/>
            <a:ext cx="568178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2020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Analysis and Findings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197894"/>
            <a:ext cx="4215289" cy="4850606"/>
          </a:xfrm>
          <a:prstGeom prst="roundRect">
            <a:avLst>
              <a:gd name="adj" fmla="val 21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2220754"/>
            <a:ext cx="4169569" cy="595313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2606" y="2358033"/>
            <a:ext cx="297656" cy="297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5008" y="30144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Sales Performance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15008" y="3443645"/>
            <a:ext cx="3772853" cy="267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 Appliances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lead average profit per unit despite not being the highest-volume category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Identified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04F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 "silent killer" products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high volume but ranked outside the top 20 on profit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Computers and Cell phones sell the most units but rank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mid-tier on profitability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2197894"/>
            <a:ext cx="4215408" cy="4850606"/>
          </a:xfrm>
          <a:prstGeom prst="roundRect">
            <a:avLst>
              <a:gd name="adj" fmla="val 21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30297" y="2220754"/>
            <a:ext cx="4169688" cy="595313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6253" y="2358033"/>
            <a:ext cx="297656" cy="2976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8655" y="30144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Store Performance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428655" y="3443645"/>
            <a:ext cx="3772972" cy="3383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revenue stores are concentrated in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Canada and the United States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 size does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strongly correlate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revenue — Wyoming has only 840 sq m but ranks #14 in total revenue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E04F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 High Performers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7 Medium, and 32 Low Performers across the network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European stores consistently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underperform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compared to North American stores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21203" y="2197894"/>
            <a:ext cx="4215289" cy="4850606"/>
          </a:xfrm>
          <a:prstGeom prst="roundRect">
            <a:avLst>
              <a:gd name="adj" fmla="val 21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44063" y="2220754"/>
            <a:ext cx="4169569" cy="595313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80019" y="2358033"/>
            <a:ext cx="297656" cy="2976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42421" y="30144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Trends Over Time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42421" y="3443645"/>
            <a:ext cx="3772853" cy="236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Sales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peak in January and February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drop sharply in March–April, then stabilize with 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December uptick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base is concentrated in 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handful of countries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Year-over-year unit growth shows the business is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04F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expanding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3537"/>
            <a:ext cx="909566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2020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 and Recommendations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690449"/>
            <a:ext cx="13042821" cy="843201"/>
          </a:xfrm>
          <a:prstGeom prst="roundRect">
            <a:avLst>
              <a:gd name="adj" fmla="val 1084"/>
            </a:avLst>
          </a:prstGeom>
          <a:solidFill>
            <a:srgbClr val="B6FCB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1985724"/>
            <a:ext cx="248007" cy="1983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8513" y="1938338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company is profitable and growing — but there are clear optimization opportunities that can accelerate performance further.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93790" y="2756892"/>
            <a:ext cx="6422231" cy="2300407"/>
          </a:xfrm>
          <a:prstGeom prst="roundRect">
            <a:avLst>
              <a:gd name="adj" fmla="val 397"/>
            </a:avLst>
          </a:prstGeom>
          <a:solidFill>
            <a:srgbClr val="F2EEEE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15008" y="297811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719" y="3141702"/>
            <a:ext cx="267891" cy="2678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5008" y="3771781"/>
            <a:ext cx="268319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Recommendation #1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1015008" y="4201001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Reevaluate pricing on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silent-killer products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small margin gains compound fast at high volume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414379" y="2756892"/>
            <a:ext cx="6422231" cy="2300407"/>
          </a:xfrm>
          <a:prstGeom prst="roundRect">
            <a:avLst>
              <a:gd name="adj" fmla="val 397"/>
            </a:avLst>
          </a:prstGeom>
          <a:solidFill>
            <a:srgbClr val="F2EEEE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35597" y="297811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9308" y="3141702"/>
            <a:ext cx="267891" cy="2678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35597" y="3771781"/>
            <a:ext cx="273236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Recommendation #2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7635597" y="4201001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Study what makes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top-performing stores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successful and apply those lessons to Low Performer locations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793790" y="5255657"/>
            <a:ext cx="6422231" cy="2300407"/>
          </a:xfrm>
          <a:prstGeom prst="roundRect">
            <a:avLst>
              <a:gd name="adj" fmla="val 397"/>
            </a:avLst>
          </a:prstGeom>
          <a:solidFill>
            <a:srgbClr val="F2EEEE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15008" y="547687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8719" y="5640467"/>
            <a:ext cx="267891" cy="2678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15008" y="6270546"/>
            <a:ext cx="273284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Recommendation #3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1015008" y="6699766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Align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marketing budget with seasonal peaks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concentrate promotions around January/February and December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7414379" y="5255657"/>
            <a:ext cx="6422231" cy="2300407"/>
          </a:xfrm>
          <a:prstGeom prst="roundRect">
            <a:avLst>
              <a:gd name="adj" fmla="val 397"/>
            </a:avLst>
          </a:prstGeom>
          <a:solidFill>
            <a:srgbClr val="F2EEEE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635597" y="547687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99308" y="5640467"/>
            <a:ext cx="267891" cy="26789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35597" y="6270546"/>
            <a:ext cx="27568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Recommendation #4</a:t>
            </a:r>
            <a:endParaRPr lang="en-US" sz="1950" dirty="0"/>
          </a:p>
        </p:txBody>
      </p:sp>
      <p:sp>
        <p:nvSpPr>
          <p:cNvPr id="25" name="Text 18"/>
          <p:cNvSpPr/>
          <p:nvPr/>
        </p:nvSpPr>
        <p:spPr>
          <a:xfrm>
            <a:off x="7635597" y="6699766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Expand in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underserved high-population countries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where customer count is low relative to market size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883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2020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References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115747"/>
            <a:ext cx="4215289" cy="3015020"/>
          </a:xfrm>
          <a:prstGeom prst="roundRect">
            <a:avLst>
              <a:gd name="adj" fmla="val 363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3115747"/>
            <a:ext cx="91440" cy="3015020"/>
          </a:xfrm>
          <a:prstGeom prst="roundRect">
            <a:avLst>
              <a:gd name="adj" fmla="val 10000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33369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766185"/>
            <a:ext cx="370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Maven Analytics — Global Electronics Retailer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83588" y="4520327"/>
            <a:ext cx="370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E04F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https://mavenanalytics.io/data-playground/global-electronics-retailer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115747"/>
            <a:ext cx="4215408" cy="3015020"/>
          </a:xfrm>
          <a:prstGeom prst="roundRect">
            <a:avLst>
              <a:gd name="adj" fmla="val 363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4577" y="3115747"/>
            <a:ext cx="91440" cy="3015020"/>
          </a:xfrm>
          <a:prstGeom prst="roundRect">
            <a:avLst>
              <a:gd name="adj" fmla="val 10000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5497235" y="33369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GitHub Repository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97235" y="3766185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shared project repository for collaboration, version control, and code sharing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97235" y="4837867"/>
            <a:ext cx="37043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[Your repo URL here]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1203" y="3115747"/>
            <a:ext cx="4215289" cy="3015020"/>
          </a:xfrm>
          <a:prstGeom prst="roundRect">
            <a:avLst>
              <a:gd name="adj" fmla="val 363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98343" y="3115747"/>
            <a:ext cx="91440" cy="3015020"/>
          </a:xfrm>
          <a:prstGeom prst="roundRect">
            <a:avLst>
              <a:gd name="adj" fmla="val 10000"/>
            </a:avLst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9911001" y="3336965"/>
            <a:ext cx="272188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Tools &amp; Assistance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911001" y="3766185"/>
            <a:ext cx="370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Gemini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assistance with documentation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911001" y="4520327"/>
            <a:ext cx="370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Claude AI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assistance with Python script and query structure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911001" y="5274469"/>
            <a:ext cx="370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Gamma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AI-powered presentation tool used for this slide deck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2026-04-23T00:38:48Z</dcterms:created>
  <dcterms:modified xsi:type="dcterms:W3CDTF">2026-04-23T00:38:48Z</dcterms:modified>
</cp:coreProperties>
</file>